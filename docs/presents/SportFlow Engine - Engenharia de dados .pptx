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ca Two Heavy" charset="1" panose="00000A00000000000000"/>
      <p:regular r:id="rId18"/>
    </p:embeddedFont>
    <p:embeddedFont>
      <p:font typeface="TT Chocolates" charset="1" panose="0200050302000002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758949"/>
            <a:ext cx="10893625" cy="439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0"/>
              </a:lnSpc>
            </a:pPr>
            <a:r>
              <a:rPr lang="en-US" sz="20000" spc="-1520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Sportflow Engine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343901" y="1398694"/>
            <a:ext cx="1393548" cy="1440654"/>
          </a:xfrm>
          <a:custGeom>
            <a:avLst/>
            <a:gdLst/>
            <a:ahLst/>
            <a:cxnLst/>
            <a:rect r="r" b="b" t="t" l="l"/>
            <a:pathLst>
              <a:path h="1440654" w="1393548">
                <a:moveTo>
                  <a:pt x="0" y="0"/>
                </a:moveTo>
                <a:lnTo>
                  <a:pt x="1393548" y="0"/>
                </a:lnTo>
                <a:lnTo>
                  <a:pt x="1393548" y="1440654"/>
                </a:lnTo>
                <a:lnTo>
                  <a:pt x="0" y="1440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6423026"/>
            <a:ext cx="714907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Ciclo de vida completo de dados para Análise de Futebol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652814" y="6086476"/>
            <a:ext cx="6977524" cy="20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Esse projeto representa o planejamento de um pipeline completo de engenharia de dados, cobrindo todo o ciclo de vida — da ingestão ao consumo analítico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4853" y="8374649"/>
            <a:ext cx="51167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Lucas Petry - 22352404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68365" y="2083878"/>
            <a:ext cx="5246370" cy="4798310"/>
            <a:chOff x="0" y="0"/>
            <a:chExt cx="812800" cy="743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43384"/>
            </a:xfrm>
            <a:custGeom>
              <a:avLst/>
              <a:gdLst/>
              <a:ahLst/>
              <a:cxnLst/>
              <a:rect r="r" b="b" t="t" l="l"/>
              <a:pathLst>
                <a:path h="743384" w="812800">
                  <a:moveTo>
                    <a:pt x="73784" y="0"/>
                  </a:moveTo>
                  <a:lnTo>
                    <a:pt x="739016" y="0"/>
                  </a:lnTo>
                  <a:cubicBezTo>
                    <a:pt x="779766" y="0"/>
                    <a:pt x="812800" y="33034"/>
                    <a:pt x="812800" y="73784"/>
                  </a:cubicBezTo>
                  <a:lnTo>
                    <a:pt x="812800" y="669600"/>
                  </a:lnTo>
                  <a:cubicBezTo>
                    <a:pt x="812800" y="689169"/>
                    <a:pt x="805026" y="707936"/>
                    <a:pt x="791189" y="721773"/>
                  </a:cubicBezTo>
                  <a:cubicBezTo>
                    <a:pt x="777352" y="735610"/>
                    <a:pt x="758585" y="743384"/>
                    <a:pt x="739016" y="743384"/>
                  </a:cubicBezTo>
                  <a:lnTo>
                    <a:pt x="73784" y="743384"/>
                  </a:lnTo>
                  <a:cubicBezTo>
                    <a:pt x="33034" y="743384"/>
                    <a:pt x="0" y="710350"/>
                    <a:pt x="0" y="669600"/>
                  </a:cubicBezTo>
                  <a:lnTo>
                    <a:pt x="0" y="73784"/>
                  </a:lnTo>
                  <a:cubicBezTo>
                    <a:pt x="0" y="33034"/>
                    <a:pt x="33034" y="0"/>
                    <a:pt x="73784" y="0"/>
                  </a:cubicBezTo>
                  <a:close/>
                </a:path>
              </a:pathLst>
            </a:custGeom>
            <a:blipFill>
              <a:blip r:embed="rId3"/>
              <a:stretch>
                <a:fillRect l="-39187" t="0" r="-39187" b="0"/>
              </a:stretch>
            </a:blipFill>
            <a:ln w="19050" cap="rnd">
              <a:solidFill>
                <a:srgbClr val="1D348A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246884" y="2083878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457325"/>
            <a:ext cx="7127402" cy="264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12000" spc="-911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Contexto e Problema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973" y="4029074"/>
            <a:ext cx="9148716" cy="522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Os dados referentes ao negócio se apresentam de forma semi-estruturada, distribuída e difícil de analisar de antemão. 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Logo, torna-se um desafio transformá-los desse formato bruto em insights estratégicos. </a:t>
            </a:r>
          </a:p>
          <a:p>
            <a:pPr algn="just">
              <a:lnSpc>
                <a:spcPts val="4199"/>
              </a:lnSpc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 API fornece muitos dados, mas eles não estão prontos para análise. O projeto resolve isso estruturando e organizando esses dados ao longo de todo o pipeline.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533525"/>
            <a:ext cx="7127402" cy="162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spc="-1064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Objetivo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496" y="4150343"/>
            <a:ext cx="7917644" cy="26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objetivo do projeto se encontra em desenvolver uma stack e um fluxo de dados de forma a abranger todas as etapas do ciclo de vida, estruturando, tratando e gerando métricas e insights de análise.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5591" y="6591300"/>
            <a:ext cx="7917644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foco é transformar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ad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os 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bru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tos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ad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 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ana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í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ico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 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nfiáv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eis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,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pr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nt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os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ar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nsumo p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or anali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as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e da</a:t>
            </a:r>
            <a:r>
              <a:rPr lang="en-US" sz="3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shboards, de forma a orquestrar todas as etapas e garantindo um fluxo de qualidade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0">
            <a:off x="8352946" y="2394190"/>
            <a:ext cx="952645" cy="952645"/>
          </a:xfrm>
          <a:custGeom>
            <a:avLst/>
            <a:gdLst/>
            <a:ahLst/>
            <a:cxnLst/>
            <a:rect r="r" b="b" t="t" l="l"/>
            <a:pathLst>
              <a:path h="952645" w="952645">
                <a:moveTo>
                  <a:pt x="952645" y="952645"/>
                </a:moveTo>
                <a:lnTo>
                  <a:pt x="0" y="952645"/>
                </a:lnTo>
                <a:lnTo>
                  <a:pt x="0" y="0"/>
                </a:lnTo>
                <a:lnTo>
                  <a:pt x="952645" y="0"/>
                </a:lnTo>
                <a:lnTo>
                  <a:pt x="952645" y="9526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4777" y="1028700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78514" y="3588957"/>
            <a:ext cx="4617201" cy="2666977"/>
          </a:xfrm>
          <a:custGeom>
            <a:avLst/>
            <a:gdLst/>
            <a:ahLst/>
            <a:cxnLst/>
            <a:rect r="r" b="b" t="t" l="l"/>
            <a:pathLst>
              <a:path h="2666977" w="4617201">
                <a:moveTo>
                  <a:pt x="0" y="0"/>
                </a:moveTo>
                <a:lnTo>
                  <a:pt x="4617201" y="0"/>
                </a:lnTo>
                <a:lnTo>
                  <a:pt x="4617201" y="2666977"/>
                </a:lnTo>
                <a:lnTo>
                  <a:pt x="0" y="26669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13" t="0" r="-32" b="-48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533525"/>
            <a:ext cx="8163331" cy="308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spc="-1064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Dados utilizados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454525"/>
            <a:ext cx="8541242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Os dados são provenientes da API SportsMonks, os quais se encontram em formato JSON, se apresentam de forma semi-estruturada e apresentam as seguintes entidades de negócio: 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Competições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Times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Jogadores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Partidas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Estatísticas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Eventos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533525"/>
            <a:ext cx="10569860" cy="308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spc="-1064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Classificação dos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37982" y="5231184"/>
            <a:ext cx="11812036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Os dados podem ser classificados quanto a sua ingestão e a sua arquitetura: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Arquitetura medalhão</a:t>
            </a: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: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Dados brutos na camada bronze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Dados tratados na camada prata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Dados modelados e analíticos na camada ouro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Sua extração proveniente da API será em forma de </a:t>
            </a:r>
            <a:r>
              <a:rPr lang="en-US" sz="2499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batch</a:t>
            </a: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uma vez que se trata de dados </a:t>
            </a:r>
            <a:r>
              <a:rPr lang="en-US" sz="2499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históricos</a:t>
            </a: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reduzindo a complexidade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58793" y="8025002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3" y="0"/>
                </a:lnTo>
                <a:lnTo>
                  <a:pt x="1192973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5434504" y="4324414"/>
            <a:ext cx="1102977" cy="1102977"/>
          </a:xfrm>
          <a:custGeom>
            <a:avLst/>
            <a:gdLst/>
            <a:ahLst/>
            <a:cxnLst/>
            <a:rect r="r" b="b" t="t" l="l"/>
            <a:pathLst>
              <a:path h="1102977" w="1102977">
                <a:moveTo>
                  <a:pt x="1102977" y="1102977"/>
                </a:moveTo>
                <a:lnTo>
                  <a:pt x="0" y="1102977"/>
                </a:lnTo>
                <a:lnTo>
                  <a:pt x="0" y="0"/>
                </a:lnTo>
                <a:lnTo>
                  <a:pt x="1102977" y="0"/>
                </a:lnTo>
                <a:lnTo>
                  <a:pt x="1102977" y="110297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9786820" y="1624194"/>
            <a:ext cx="1102977" cy="1102977"/>
          </a:xfrm>
          <a:custGeom>
            <a:avLst/>
            <a:gdLst/>
            <a:ahLst/>
            <a:cxnLst/>
            <a:rect r="r" b="b" t="t" l="l"/>
            <a:pathLst>
              <a:path h="1102977" w="1102977">
                <a:moveTo>
                  <a:pt x="0" y="1102978"/>
                </a:moveTo>
                <a:lnTo>
                  <a:pt x="1102977" y="1102978"/>
                </a:lnTo>
                <a:lnTo>
                  <a:pt x="1102977" y="0"/>
                </a:lnTo>
                <a:lnTo>
                  <a:pt x="0" y="0"/>
                </a:lnTo>
                <a:lnTo>
                  <a:pt x="0" y="110297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457325"/>
            <a:ext cx="7233853" cy="264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12000" spc="-911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Domínios e Serviços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912193"/>
            <a:ext cx="4956990" cy="599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Os dados utilizados no projeto possuem os seguintes domínios de negócio 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Competições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Times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Jogadores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Partidas (central)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Estatísticas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Eventos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Já os serviços que o fluxo de dados irá apresentar serão os seguintes: 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Ingestão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Armazenamento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Processamento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Modelagem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Orquestração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Consumo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949657" y="4669196"/>
            <a:ext cx="4769081" cy="399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 separaçã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e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 do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míni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 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egue princípios de </a:t>
            </a:r>
            <a:r>
              <a:rPr lang="en-US" sz="2299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arquite</a:t>
            </a:r>
            <a:r>
              <a:rPr lang="en-US" sz="2299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tu</a:t>
            </a:r>
            <a:r>
              <a:rPr lang="en-US" sz="2299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2299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a orientada a d</a:t>
            </a:r>
            <a:r>
              <a:rPr lang="en-US" sz="2299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omínio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melh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orando organização e </a:t>
            </a:r>
            <a:r>
              <a:rPr lang="en-US" sz="2299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escalabilidade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Cada serviço tem responsabilidade clara, o que </a:t>
            </a:r>
            <a:r>
              <a:rPr lang="en-US" sz="2299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reduz acoplamento</a:t>
            </a:r>
            <a:r>
              <a:rPr lang="en-US" sz="229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e melhora manutenção do sistema, a partir das independências consequentes.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14064" y="514350"/>
            <a:ext cx="4526096" cy="9258300"/>
            <a:chOff x="0" y="0"/>
            <a:chExt cx="1194295" cy="24429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4295" cy="2442975"/>
            </a:xfrm>
            <a:custGeom>
              <a:avLst/>
              <a:gdLst/>
              <a:ahLst/>
              <a:cxnLst/>
              <a:rect r="r" b="b" t="t" l="l"/>
              <a:pathLst>
                <a:path h="2442975" w="1194295">
                  <a:moveTo>
                    <a:pt x="85525" y="0"/>
                  </a:moveTo>
                  <a:lnTo>
                    <a:pt x="1108769" y="0"/>
                  </a:lnTo>
                  <a:cubicBezTo>
                    <a:pt x="1156004" y="0"/>
                    <a:pt x="1194295" y="38291"/>
                    <a:pt x="1194295" y="85525"/>
                  </a:cubicBezTo>
                  <a:lnTo>
                    <a:pt x="1194295" y="2357449"/>
                  </a:lnTo>
                  <a:cubicBezTo>
                    <a:pt x="1194295" y="2404683"/>
                    <a:pt x="1156004" y="2442975"/>
                    <a:pt x="1108769" y="2442975"/>
                  </a:cubicBezTo>
                  <a:lnTo>
                    <a:pt x="85525" y="2442975"/>
                  </a:lnTo>
                  <a:cubicBezTo>
                    <a:pt x="38291" y="2442975"/>
                    <a:pt x="0" y="2404683"/>
                    <a:pt x="0" y="2357449"/>
                  </a:cubicBezTo>
                  <a:lnTo>
                    <a:pt x="0" y="85525"/>
                  </a:lnTo>
                  <a:cubicBezTo>
                    <a:pt x="0" y="38291"/>
                    <a:pt x="38291" y="0"/>
                    <a:pt x="8552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529" r="0" b="-529"/>
              </a:stretch>
            </a:blipFill>
            <a:ln w="19050" cap="rnd">
              <a:solidFill>
                <a:srgbClr val="1D348A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90768" y="753807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821860" y="9634278"/>
            <a:ext cx="644280" cy="6442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930173" y="9707764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572876"/>
            <a:ext cx="10994000" cy="7061403"/>
          </a:xfrm>
          <a:custGeom>
            <a:avLst/>
            <a:gdLst/>
            <a:ahLst/>
            <a:cxnLst/>
            <a:rect r="r" b="b" t="t" l="l"/>
            <a:pathLst>
              <a:path h="7061403" w="10994000">
                <a:moveTo>
                  <a:pt x="0" y="0"/>
                </a:moveTo>
                <a:lnTo>
                  <a:pt x="10994000" y="0"/>
                </a:lnTo>
                <a:lnTo>
                  <a:pt x="10994000" y="7061402"/>
                </a:lnTo>
                <a:lnTo>
                  <a:pt x="0" y="70614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896" r="-16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457325"/>
            <a:ext cx="9832431" cy="139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12000" spc="-911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Arquitetura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90768" y="2616019"/>
            <a:ext cx="4769081" cy="569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projeto apresenta uma arquitetura híbrida combinando </a:t>
            </a:r>
            <a:r>
              <a:rPr lang="en-US" sz="2700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Lakehouse</a:t>
            </a:r>
            <a:r>
              <a:rPr lang="en-US" sz="27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com </a:t>
            </a:r>
            <a:r>
              <a:rPr lang="en-US" sz="2700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Medalhão </a:t>
            </a:r>
          </a:p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Tais escolhas se justificam pela </a:t>
            </a:r>
            <a:r>
              <a:rPr lang="en-US" sz="2700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flexibilidade</a:t>
            </a:r>
            <a:r>
              <a:rPr lang="en-US" sz="27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fornecida entre o Data Lake para armazenar os arquivos brutos oriundos </a:t>
            </a:r>
            <a:r>
              <a:rPr lang="en-US" sz="2700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“asis”</a:t>
            </a:r>
            <a:r>
              <a:rPr lang="en-US" sz="27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da API e a </a:t>
            </a:r>
            <a:r>
              <a:rPr lang="en-US" sz="2700" strike="noStrike" u="none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estruturação</a:t>
            </a:r>
            <a:r>
              <a:rPr lang="en-US" sz="27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deles posteriormente na camada Ouro em forma de Warehouse para fins de consumo e visualização.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136987" y="753807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821860" y="9634278"/>
            <a:ext cx="644280" cy="6442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930173" y="9707764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3619211"/>
            <a:ext cx="11301259" cy="6088553"/>
          </a:xfrm>
          <a:custGeom>
            <a:avLst/>
            <a:gdLst/>
            <a:ahLst/>
            <a:cxnLst/>
            <a:rect r="r" b="b" t="t" l="l"/>
            <a:pathLst>
              <a:path h="6088553" w="11301259">
                <a:moveTo>
                  <a:pt x="0" y="0"/>
                </a:moveTo>
                <a:lnTo>
                  <a:pt x="11301259" y="0"/>
                </a:lnTo>
                <a:lnTo>
                  <a:pt x="11301259" y="6088553"/>
                </a:lnTo>
                <a:lnTo>
                  <a:pt x="0" y="60885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428750"/>
            <a:ext cx="9832431" cy="241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0"/>
              </a:lnSpc>
            </a:pPr>
            <a:r>
              <a:rPr lang="en-US" sz="11000" spc="-836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Fluxo de dados e Tecnologias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17978" y="1589772"/>
            <a:ext cx="4769081" cy="846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fluxo de dados pode ser resumido da seguinte forma: 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API → Ingestão → Data Lake → Processamento → Data Warehouse → Dashboard 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pipeline segue um fluxo completo atendendo a todos as etapas de um ciclo de vida completo. 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Stack de tecnologias: 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Python → ingestão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MinIO → Data Lake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Spark → processamento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PostgreSQL → warehouse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Airflow → orquestração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Streamlit → dashboard 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Docker → Infraestrutura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Cada tecnologia foi escolhida com base em simplicidade, integração, escalabilidade e custo (todas opensource).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4777" y="1028700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33172" y="3816957"/>
            <a:ext cx="4768399" cy="2653087"/>
          </a:xfrm>
          <a:custGeom>
            <a:avLst/>
            <a:gdLst/>
            <a:ahLst/>
            <a:cxnLst/>
            <a:rect r="r" b="b" t="t" l="l"/>
            <a:pathLst>
              <a:path h="2653087" w="4768399">
                <a:moveTo>
                  <a:pt x="0" y="0"/>
                </a:moveTo>
                <a:lnTo>
                  <a:pt x="4768398" y="0"/>
                </a:lnTo>
                <a:lnTo>
                  <a:pt x="4768398" y="2653086"/>
                </a:lnTo>
                <a:lnTo>
                  <a:pt x="0" y="26530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24" r="0" b="-32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457325"/>
            <a:ext cx="8163331" cy="139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12000" spc="-911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Trade-offs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20417"/>
            <a:ext cx="8541242" cy="705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Batch vs Streaming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Menor complexidade e como o</a:t>
            </a: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 dados são históricos, a implementação em batch se torna mais adequada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PostgreSQL como armazenamento nas camadas prata e ouro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Seu uso promove simplicidade, integração e boa performance para carga de dados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Spark como forma de processamento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Excelente tecnologia quando considerado os tópicos de processamento distribuído, escalabilidade e os volumes de dados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Data Lake com MinIO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Considerando a arquitetura e o fluxo de dados do projeto, torna-se viável em decorrência da compatibilidade com S3 e Docker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Dessa forma, a implementação da arquitetura permite passar por todo o ciclo de vida dos dados, separar de forma clara as responsabilidades, garantindo qualidade entre as etapas d</a:t>
            </a: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fluxo.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353866"/>
            <a:ext cx="6988540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projeto apresenta alguns riscos e limitações que devem ser levados em conta, podendo ser citados: 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Dependência da API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Crescimento de dados ao longo do tempo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Sem streaming, apenas processamento histórico em batch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Infraestrutura local com ausência de cloud 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457325"/>
            <a:ext cx="6983944" cy="264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12000" spc="-911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Riscos e limitações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088761" y="8025002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113440" y="8443213"/>
            <a:ext cx="11846237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Todas as decisões foram tomadas considerando custo, complexidade, viabilidade acadêmica e infraestrutura.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353866"/>
            <a:ext cx="15656547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Por fim, após todo o planejamento conceitual e arquitetural de como o projeto será desenvolvido, terá início sua implementação prática, montando os diretórios, subindo a arquitetura necessária, começando a extração de dados e as posteriores etapas com os respectivos códigos.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Todas as estruturas e desenvolvimento do projeto se encontrará hospedado no github do projeto: 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D348A"/>
                </a:solidFill>
                <a:latin typeface="TT Chocolates"/>
                <a:ea typeface="TT Chocolates"/>
                <a:cs typeface="TT Chocolates"/>
                <a:sym typeface="TT Chocolates"/>
              </a:rPr>
              <a:t>github.com/LucasgPetry/Data_Engineering_SportFlow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457325"/>
            <a:ext cx="6983944" cy="264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12000" spc="-911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Próximos passos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088761" y="8025002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48103" y="3307080"/>
            <a:ext cx="9895170" cy="595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139"/>
              </a:lnSpc>
            </a:pPr>
            <a:r>
              <a:rPr lang="en-US" b="true" sz="27000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Obrigado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7772" y="8273223"/>
            <a:ext cx="3603405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lucas.gpetry@sempreceub.com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769451" y="6504738"/>
            <a:ext cx="2048459" cy="2117703"/>
          </a:xfrm>
          <a:custGeom>
            <a:avLst/>
            <a:gdLst/>
            <a:ahLst/>
            <a:cxnLst/>
            <a:rect r="r" b="b" t="t" l="l"/>
            <a:pathLst>
              <a:path h="2117703" w="2048459">
                <a:moveTo>
                  <a:pt x="0" y="0"/>
                </a:moveTo>
                <a:lnTo>
                  <a:pt x="2048459" y="0"/>
                </a:lnTo>
                <a:lnTo>
                  <a:pt x="2048459" y="2117703"/>
                </a:lnTo>
                <a:lnTo>
                  <a:pt x="0" y="211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DAHIQVlI6GA</dc:identifier>
  <dcterms:modified xsi:type="dcterms:W3CDTF">2011-08-01T06:04:30Z</dcterms:modified>
  <cp:revision>1</cp:revision>
  <dc:title>SportFlow Engine - Engenharia de dados </dc:title>
</cp:coreProperties>
</file>